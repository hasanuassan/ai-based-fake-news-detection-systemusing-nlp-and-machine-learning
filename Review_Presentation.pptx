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0" y="457200"/>
            <a:ext cx="1828800" cy="1828800"/>
          </a:xfrm>
          <a:prstGeom prst="ellipse">
            <a:avLst/>
          </a:prstGeom>
          <a:solidFill>
            <a:srgbClr val="6496C8"/>
          </a:solidFill>
          <a:ln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5029200"/>
            <a:ext cx="1645920" cy="1645920"/>
          </a:xfrm>
          <a:prstGeom prst="ellipse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000" b="1">
                <a:solidFill>
                  <a:srgbClr val="FFFFFF"/>
                </a:solidFill>
              </a:defRPr>
            </a:pPr>
            <a:r>
              <a:t>AI-Based Fake News Detection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Using NLP &amp; Machine Learning</a:t>
            </a:r>
            <a:br/>
            <a:br/>
            <a:r>
              <a:t>Batch Members: [Your Team Names Here]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Objective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1005840" cy="1097280"/>
          </a:xfrm>
          <a:prstGeom prst="roundRect">
            <a:avLst/>
          </a:prstGeom>
          <a:solidFill>
            <a:srgbClr val="C00000"/>
          </a:solidFill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Develop</a:t>
            </a:r>
            <a:br/>
            <a:r>
              <a:t>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20240" y="1828800"/>
            <a:ext cx="1005840" cy="1097280"/>
          </a:xfrm>
          <a:prstGeom prst="roundRect">
            <a:avLst/>
          </a:prstGeom>
          <a:solidFill>
            <a:srgbClr val="6496C8"/>
          </a:solidFill>
          <a:ln w="254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Apply</a:t>
            </a:r>
            <a:br/>
            <a:r>
              <a:t>NLP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1828800"/>
            <a:ext cx="1005840" cy="1097280"/>
          </a:xfrm>
          <a:prstGeom prst="roundRect">
            <a:avLst/>
          </a:prstGeom>
          <a:solidFill>
            <a:srgbClr val="1F4E79"/>
          </a:solidFill>
          <a:ln w="254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Build</a:t>
            </a:r>
            <a:br/>
            <a:r>
              <a:t>ML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828800"/>
            <a:ext cx="1005840" cy="1097280"/>
          </a:xfrm>
          <a:prstGeom prst="roundRect">
            <a:avLst/>
          </a:prstGeom>
          <a:solidFill>
            <a:srgbClr val="00B050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User</a:t>
            </a:r>
            <a:br/>
            <a:r>
              <a:t>Interface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828800"/>
            <a:ext cx="1005840" cy="1097280"/>
          </a:xfrm>
          <a:prstGeom prst="roundRect">
            <a:avLst/>
          </a:prstGeom>
          <a:solidFill>
            <a:srgbClr val="FFC000"/>
          </a:solidFill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Explain</a:t>
            </a:r>
            <a:br/>
            <a:r>
              <a:t>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828800"/>
            <a:ext cx="1005840" cy="1097280"/>
          </a:xfrm>
          <a:prstGeom prst="roundRect">
            <a:avLst/>
          </a:prstGeom>
          <a:solidFill>
            <a:srgbClr val="6496C8"/>
          </a:solidFill>
          <a:ln w="254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Enable</a:t>
            </a:r>
            <a:br/>
            <a:r>
              <a:t>Checking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Literature Survey - Key Papers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3200400"/>
            <a:ext cx="7132320" cy="45720"/>
          </a:xfrm>
          <a:prstGeom prst="rect">
            <a:avLst/>
          </a:prstGeom>
          <a:solidFill>
            <a:srgbClr val="1F4E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34440" y="3063240"/>
            <a:ext cx="274320" cy="274320"/>
          </a:xfrm>
          <a:prstGeom prst="ellipse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474720"/>
            <a:ext cx="548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2014</a:t>
            </a:r>
            <a:br/>
            <a:r>
              <a:t>CNN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CNN for Sentence Classification</a:t>
            </a:r>
          </a:p>
        </p:txBody>
      </p:sp>
      <p:sp>
        <p:nvSpPr>
          <p:cNvPr id="7" name="Oval 6"/>
          <p:cNvSpPr/>
          <p:nvPr/>
        </p:nvSpPr>
        <p:spPr>
          <a:xfrm>
            <a:off x="2331720" y="3063240"/>
            <a:ext cx="274320" cy="274320"/>
          </a:xfrm>
          <a:prstGeom prst="ellipse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3474720"/>
            <a:ext cx="548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2016</a:t>
            </a:r>
            <a:br/>
            <a:r>
              <a:t>Stance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560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Stance Detection</a:t>
            </a:r>
          </a:p>
        </p:txBody>
      </p:sp>
      <p:sp>
        <p:nvSpPr>
          <p:cNvPr id="10" name="Oval 9"/>
          <p:cNvSpPr/>
          <p:nvPr/>
        </p:nvSpPr>
        <p:spPr>
          <a:xfrm>
            <a:off x="3429000" y="3063240"/>
            <a:ext cx="274320" cy="274320"/>
          </a:xfrm>
          <a:prstGeom prst="ellipse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3474720"/>
            <a:ext cx="548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2017</a:t>
            </a:r>
            <a:br/>
            <a:r>
              <a:t>BERT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560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Transformers</a:t>
            </a:r>
          </a:p>
        </p:txBody>
      </p:sp>
      <p:sp>
        <p:nvSpPr>
          <p:cNvPr id="13" name="Oval 12"/>
          <p:cNvSpPr/>
          <p:nvPr/>
        </p:nvSpPr>
        <p:spPr>
          <a:xfrm>
            <a:off x="4526279" y="3063240"/>
            <a:ext cx="274320" cy="274320"/>
          </a:xfrm>
          <a:prstGeom prst="ellipse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3474720"/>
            <a:ext cx="548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2017</a:t>
            </a:r>
            <a:br/>
            <a:r>
              <a:t>Fake News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560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Fake News Detection</a:t>
            </a:r>
          </a:p>
        </p:txBody>
      </p:sp>
      <p:sp>
        <p:nvSpPr>
          <p:cNvPr id="16" name="Oval 15"/>
          <p:cNvSpPr/>
          <p:nvPr/>
        </p:nvSpPr>
        <p:spPr>
          <a:xfrm>
            <a:off x="5623559" y="3063240"/>
            <a:ext cx="274320" cy="274320"/>
          </a:xfrm>
          <a:prstGeom prst="ellipse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3474720"/>
            <a:ext cx="548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2018</a:t>
            </a:r>
            <a:br/>
            <a:r>
              <a:t>XLNet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560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RoBERTa</a:t>
            </a:r>
          </a:p>
        </p:txBody>
      </p:sp>
      <p:sp>
        <p:nvSpPr>
          <p:cNvPr id="19" name="Oval 18"/>
          <p:cNvSpPr/>
          <p:nvPr/>
        </p:nvSpPr>
        <p:spPr>
          <a:xfrm>
            <a:off x="6720840" y="3063240"/>
            <a:ext cx="274320" cy="274320"/>
          </a:xfrm>
          <a:prstGeom prst="ellipse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474720"/>
            <a:ext cx="548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2019</a:t>
            </a:r>
            <a:br/>
            <a:r>
              <a:t>RoBERTa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560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Advanced Models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76809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1. CNN for Sentence Classification (Y. Kim, 2014)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2. Attention Is All You Need (Vaswani et al., 2017)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3. BERT Pre-training (Devlin et al., 2018)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4. Fake News on Social Media (Shu et al., 2017)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5. Credibility of Claims (Wang et al., 2017)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6. Misinformation Detection (Vosoughi et al., 2018)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Existing System - Limitations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645920" cy="640080"/>
          </a:xfrm>
          <a:prstGeom prst="roundRect">
            <a:avLst/>
          </a:prstGeom>
          <a:solidFill>
            <a:srgbClr val="C00000"/>
          </a:solidFill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Manual</a:t>
            </a:r>
            <a:br/>
            <a:r>
              <a:t>Fact-Check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1371600"/>
            <a:ext cx="1645920" cy="640080"/>
          </a:xfrm>
          <a:prstGeom prst="roundRect">
            <a:avLst/>
          </a:prstGeom>
          <a:solidFill>
            <a:srgbClr val="C00000"/>
          </a:solidFill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Keyword</a:t>
            </a:r>
            <a:br/>
            <a:r>
              <a:t>Matching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1645920" cy="640080"/>
          </a:xfrm>
          <a:prstGeom prst="roundRect">
            <a:avLst/>
          </a:prstGeom>
          <a:solidFill>
            <a:srgbClr val="C00000"/>
          </a:solidFill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Social Media</a:t>
            </a:r>
            <a:br/>
            <a:r>
              <a:t>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1645920" cy="640080"/>
          </a:xfrm>
          <a:prstGeom prst="roundRect">
            <a:avLst/>
          </a:prstGeom>
          <a:solidFill>
            <a:srgbClr val="C00000"/>
          </a:solidFill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Third-party</a:t>
            </a:r>
            <a:br/>
            <a:r>
              <a:t>Websites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743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33333"/>
                </a:solidFill>
              </a:defRPr>
            </a:pPr>
            <a:r>
              <a:t>Limitations of Current Systems:</a:t>
            </a:r>
          </a:p>
          <a:p>
            <a:pPr>
              <a:defRPr sz="1100" b="0">
                <a:solidFill>
                  <a:srgbClr val="C00000"/>
                </a:solidFill>
              </a:defRPr>
            </a:pPr>
            <a:r>
              <a:t>• Slow verification</a:t>
            </a:r>
          </a:p>
          <a:p>
            <a:pPr>
              <a:defRPr sz="1100" b="0">
                <a:solidFill>
                  <a:srgbClr val="C00000"/>
                </a:solidFill>
              </a:defRPr>
            </a:pPr>
            <a:r>
              <a:t>• Low accuracy</a:t>
            </a:r>
          </a:p>
          <a:p>
            <a:pPr>
              <a:defRPr sz="1100" b="0">
                <a:solidFill>
                  <a:srgbClr val="C00000"/>
                </a:solidFill>
              </a:defRPr>
            </a:pPr>
            <a:r>
              <a:t>• Not scalable</a:t>
            </a:r>
          </a:p>
          <a:p>
            <a:pPr>
              <a:defRPr sz="1100" b="0">
                <a:solidFill>
                  <a:srgbClr val="C00000"/>
                </a:solidFill>
              </a:defRPr>
            </a:pPr>
            <a:r>
              <a:t>• No explainability</a:t>
            </a:r>
          </a:p>
          <a:p>
            <a:pPr>
              <a:defRPr sz="1100" b="0">
                <a:solidFill>
                  <a:srgbClr val="C00000"/>
                </a:solidFill>
              </a:defRPr>
            </a:pPr>
            <a:r>
              <a:t>• Manual process</a:t>
            </a:r>
          </a:p>
          <a:p>
            <a:pPr>
              <a:defRPr sz="1100" b="0">
                <a:solidFill>
                  <a:srgbClr val="C00000"/>
                </a:solidFill>
              </a:defRPr>
            </a:pPr>
            <a:r>
              <a:t>• Limited 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2860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Speed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2331720"/>
            <a:ext cx="1828800" cy="18288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3017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Accuracy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3063239"/>
            <a:ext cx="1828800" cy="18288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37490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Coverage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3794759"/>
            <a:ext cx="1828800" cy="18288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44805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Scalability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0" y="4526280"/>
            <a:ext cx="1828800" cy="18288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52120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Explainability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0" y="5257800"/>
            <a:ext cx="1828800" cy="18288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Proposed System - Data Processing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914400" cy="731520"/>
          </a:xfrm>
          <a:prstGeom prst="roundRect">
            <a:avLst/>
          </a:prstGeom>
          <a:solidFill>
            <a:srgbClr val="6496C8"/>
          </a:solidFill>
          <a:ln w="254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NEWS</a:t>
            </a:r>
            <a:br/>
            <a:r>
              <a:t>INPUT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645920" y="2194560"/>
            <a:ext cx="64008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286000" y="1645920"/>
            <a:ext cx="1097280" cy="1097280"/>
          </a:xfrm>
          <a:prstGeom prst="roundRect">
            <a:avLst/>
          </a:prstGeom>
          <a:solidFill>
            <a:srgbClr val="6496C8"/>
          </a:solidFill>
          <a:ln w="254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NLP</a:t>
            </a:r>
            <a:br/>
            <a:r>
              <a:t>Processing</a:t>
            </a:r>
            <a:br/>
            <a:br/>
            <a:r>
              <a:t>Tokenize</a:t>
            </a:r>
            <a:br/>
            <a:r>
              <a:t>Stemming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383280" y="2194560"/>
            <a:ext cx="54864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931920" y="1645920"/>
            <a:ext cx="1097280" cy="1097280"/>
          </a:xfrm>
          <a:prstGeom prst="roundRect">
            <a:avLst/>
          </a:prstGeom>
          <a:solidFill>
            <a:srgbClr val="6496C8"/>
          </a:solidFill>
          <a:ln w="254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Feature</a:t>
            </a:r>
            <a:br/>
            <a:r>
              <a:t>Extraction</a:t>
            </a:r>
            <a:br/>
            <a:br/>
            <a:r>
              <a:t>TF-IDF</a:t>
            </a:r>
            <a:br/>
            <a:r>
              <a:t>Embeddings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0" y="2194560"/>
            <a:ext cx="54864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577840" y="1645920"/>
            <a:ext cx="1097280" cy="1097280"/>
          </a:xfrm>
          <a:prstGeom prst="roundRect">
            <a:avLst/>
          </a:prstGeom>
          <a:solidFill>
            <a:srgbClr val="1F4E79"/>
          </a:solidFill>
          <a:ln w="254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ML Model</a:t>
            </a:r>
            <a:br/>
            <a:r>
              <a:t>Inference</a:t>
            </a:r>
            <a:br/>
            <a:br/>
            <a:r>
              <a:t>Classify</a:t>
            </a:r>
            <a:br/>
            <a:r>
              <a:t>Score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26480" y="2743200"/>
            <a:ext cx="0" cy="64008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394960" y="3383280"/>
            <a:ext cx="1463040" cy="731520"/>
          </a:xfrm>
          <a:prstGeom prst="roundRect">
            <a:avLst/>
          </a:prstGeom>
          <a:solidFill>
            <a:srgbClr val="00B050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OUTPUT</a:t>
            </a:r>
            <a:br/>
            <a:r>
              <a:t>Prediction + Score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4297680" cy="640080"/>
          </a:xfrm>
          <a:prstGeom prst="roundRect">
            <a:avLst/>
          </a:prstGeom>
          <a:solidFill>
            <a:srgbClr val="FFC000"/>
          </a:solidFill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ADVANCED: Emotion Detection | Keyword Highlight | Patterns | Trust Meter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System Architecture - Three Layers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286000" cy="914400"/>
          </a:xfrm>
          <a:prstGeom prst="roundRect">
            <a:avLst/>
          </a:prstGeom>
          <a:solidFill>
            <a:srgbClr val="6496C8"/>
          </a:solidFill>
          <a:ln w="254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FRONTEND</a:t>
            </a:r>
            <a:br/>
            <a:r>
              <a:t>HTML/CSS/JS</a:t>
            </a:r>
            <a:br/>
            <a:r>
              <a:t>Tailwind/React</a:t>
            </a:r>
            <a:br/>
            <a:r>
              <a:t>Dark Mode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17320" y="2286000"/>
            <a:ext cx="0" cy="27432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2560320"/>
            <a:ext cx="2286000" cy="1097280"/>
          </a:xfrm>
          <a:prstGeom prst="roundRect">
            <a:avLst/>
          </a:prstGeom>
          <a:solidFill>
            <a:srgbClr val="1F4E79"/>
          </a:solidFill>
          <a:ln w="254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BACKEND</a:t>
            </a:r>
            <a:br/>
            <a:r>
              <a:t>Flask/Python</a:t>
            </a:r>
            <a:br/>
            <a:r>
              <a:t>NLP Processing</a:t>
            </a:r>
            <a:br/>
            <a:r>
              <a:t>ML Models</a:t>
            </a:r>
            <a:br/>
            <a:r>
              <a:t>Database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417320" y="3657600"/>
            <a:ext cx="0" cy="18288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31520" y="3840480"/>
            <a:ext cx="2286000" cy="914400"/>
          </a:xfrm>
          <a:prstGeom prst="roundRect">
            <a:avLst/>
          </a:prstGeom>
          <a:solidFill>
            <a:srgbClr val="00B050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DEPLOYMENT</a:t>
            </a:r>
            <a:br/>
            <a:r>
              <a:t>Docker</a:t>
            </a:r>
            <a:br/>
            <a:r>
              <a:t>Jenkins CI/CD</a:t>
            </a:r>
            <a:br/>
            <a:r>
              <a:t>AWS EC2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71600"/>
            <a:ext cx="1645920" cy="731520"/>
          </a:xfrm>
          <a:prstGeom prst="roundRect">
            <a:avLst/>
          </a:prstGeom>
          <a:solidFill>
            <a:srgbClr val="6496C8"/>
          </a:solidFill>
          <a:ln w="254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REST API</a:t>
            </a:r>
            <a:br/>
            <a:r>
              <a:t>Endpoints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377440"/>
            <a:ext cx="1645920" cy="731520"/>
          </a:xfrm>
          <a:prstGeom prst="roundRect">
            <a:avLst/>
          </a:prstGeom>
          <a:solidFill>
            <a:srgbClr val="1F4E79"/>
          </a:solidFill>
          <a:ln w="254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Database</a:t>
            </a:r>
            <a:br/>
            <a:r>
              <a:t>News/Cache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3383280"/>
            <a:ext cx="1645920" cy="731520"/>
          </a:xfrm>
          <a:prstGeom prst="roundRect">
            <a:avLst/>
          </a:prstGeom>
          <a:solidFill>
            <a:srgbClr val="FFC000"/>
          </a:solidFill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Cache</a:t>
            </a:r>
            <a:br/>
            <a:r>
              <a:t>Redis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4389120"/>
            <a:ext cx="1645920" cy="731520"/>
          </a:xfrm>
          <a:prstGeom prst="roundRect">
            <a:avLst/>
          </a:prstGeom>
          <a:solidFill>
            <a:srgbClr val="C00000"/>
          </a:solidFill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Security</a:t>
            </a:r>
            <a:br/>
            <a:r>
              <a:t>HTTPS/Auth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17520" y="1737360"/>
            <a:ext cx="45720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017520" y="2743200"/>
            <a:ext cx="45720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017520" y="3749039"/>
            <a:ext cx="45720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017520" y="4754880"/>
            <a:ext cx="45720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669280" y="1371600"/>
            <a:ext cx="2926080" cy="731520"/>
          </a:xfrm>
          <a:prstGeom prst="roundRect">
            <a:avLst/>
          </a:prstGeom>
          <a:solidFill>
            <a:srgbClr val="C00000"/>
          </a:solidFill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External APIs</a:t>
            </a:r>
            <a:br/>
            <a:r>
              <a:t>URL Verification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0" y="2377440"/>
            <a:ext cx="2926080" cy="731520"/>
          </a:xfrm>
          <a:prstGeom prst="roundRect">
            <a:avLst/>
          </a:prstGeom>
          <a:solidFill>
            <a:srgbClr val="6496C8"/>
          </a:solidFill>
          <a:ln w="254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Monitoring</a:t>
            </a:r>
            <a:br/>
            <a:r>
              <a:t>Logs &amp; Metrics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0" y="3383280"/>
            <a:ext cx="2926080" cy="731520"/>
          </a:xfrm>
          <a:prstGeom prst="roundRect">
            <a:avLst/>
          </a:prstGeom>
          <a:solidFill>
            <a:srgbClr val="1F4E79"/>
          </a:solidFill>
          <a:ln w="254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Storage</a:t>
            </a:r>
            <a:br/>
            <a:r>
              <a:t>File System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20640" y="1737360"/>
            <a:ext cx="54864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120640" y="2743200"/>
            <a:ext cx="54864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20640" y="3749039"/>
            <a:ext cx="54864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