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858000" y="457200"/>
            <a:ext cx="1828800" cy="1828800"/>
          </a:xfrm>
          <a:prstGeom prst="ellipse">
            <a:avLst/>
          </a:prstGeom>
          <a:solidFill>
            <a:srgbClr val="6496C8"/>
          </a:solidFill>
          <a:ln>
            <a:solidFill>
              <a:srgbClr val="64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0" y="5029200"/>
            <a:ext cx="1645920" cy="1645920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000" b="1">
                <a:solidFill>
                  <a:srgbClr val="FFFFFF"/>
                </a:solidFill>
              </a:defRPr>
            </a:pPr>
            <a:r>
              <a:t>AI-Based Fake News Detection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6400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DCDCDC"/>
                </a:solidFill>
              </a:defRPr>
            </a:pPr>
            <a:r>
              <a:t>Using Natural Language Processing &amp; Machine Learning</a:t>
            </a:r>
            <a:br/>
            <a:br/>
            <a:r>
              <a:t>Batch Members: [Your Team Names Here]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lIns="27432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4114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Develop an intelligent system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Apply advanced NLP techniques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Build a machine learning model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Create a user-friendly web interface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Provide explainable AI insights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Enable accessible fact-checking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0" y="1371600"/>
            <a:ext cx="1097280" cy="1097280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Develop</a:t>
            </a:r>
          </a:p>
          <a:p>
            <a:r>
              <a:t>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1097280" cy="1097280"/>
          </a:xfrm>
          <a:prstGeom prst="roundRect">
            <a:avLst/>
          </a:prstGeom>
          <a:solidFill>
            <a:srgbClr val="6496C8"/>
          </a:solidFill>
          <a:ln>
            <a:solidFill>
              <a:srgbClr val="64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Apply</a:t>
            </a:r>
          </a:p>
          <a:p>
            <a:r>
              <a:t>NLP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06640" y="1371600"/>
            <a:ext cx="1097280" cy="1097280"/>
          </a:xfrm>
          <a:prstGeom prst="round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Build</a:t>
            </a:r>
          </a:p>
          <a:p>
            <a:r>
              <a:t>ML Model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lIns="27432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Literature Survey (10+ Papers)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4114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1. CNN for Sentence Classification (2014)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2. Transformers Architecture (2017)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3. BERT Pre-training (2018)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4. Fake News Detection (2017)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5. Credibility Assessment (2017)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6. Misinformation Detection (2018)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7. RoBERTa (2019)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8. XLNet (2019)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9. Stance Detection (2016)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10. Deep Learning Methods (2018)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3200400"/>
            <a:ext cx="3657600" cy="9144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0" y="3063240"/>
            <a:ext cx="228600" cy="228600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983480" y="33832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/>
            </a:pPr>
            <a:r>
              <a:t>2014</a:t>
            </a:r>
          </a:p>
        </p:txBody>
      </p:sp>
      <p:sp>
        <p:nvSpPr>
          <p:cNvPr id="7" name="Oval 6"/>
          <p:cNvSpPr/>
          <p:nvPr/>
        </p:nvSpPr>
        <p:spPr>
          <a:xfrm>
            <a:off x="6217920" y="3063240"/>
            <a:ext cx="228600" cy="228600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72200" y="33832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/>
            </a:pPr>
            <a:r>
              <a:t>2017</a:t>
            </a:r>
          </a:p>
        </p:txBody>
      </p:sp>
      <p:sp>
        <p:nvSpPr>
          <p:cNvPr id="9" name="Oval 8"/>
          <p:cNvSpPr/>
          <p:nvPr/>
        </p:nvSpPr>
        <p:spPr>
          <a:xfrm>
            <a:off x="7406640" y="3063240"/>
            <a:ext cx="228600" cy="228600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60920" y="33832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/>
            </a:pPr>
            <a:r>
              <a:t>2018</a:t>
            </a:r>
          </a:p>
        </p:txBody>
      </p:sp>
      <p:sp>
        <p:nvSpPr>
          <p:cNvPr id="11" name="Oval 10"/>
          <p:cNvSpPr/>
          <p:nvPr/>
        </p:nvSpPr>
        <p:spPr>
          <a:xfrm>
            <a:off x="8595360" y="3063240"/>
            <a:ext cx="228600" cy="228600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49640" y="33832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/>
            </a:pPr>
            <a:r>
              <a:t>2019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lIns="27432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Existing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4114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Current Approaches: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Manual fact-checking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Keyword matching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Social media built-in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Third-party websites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Key Limitations: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Slow verification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Low accuracy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No explainability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Not scalable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13716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/>
            </a:pPr>
            <a:r>
              <a:t>Speed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371600"/>
            <a:ext cx="1828800" cy="2286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0" y="22860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/>
            </a:pPr>
            <a:r>
              <a:t>Accuracy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2286000"/>
            <a:ext cx="1828800" cy="2286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0" y="32004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/>
            </a:pPr>
            <a:r>
              <a:t>Scale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3200400"/>
            <a:ext cx="1828800" cy="2286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0" y="4114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/>
            </a:pPr>
            <a:r>
              <a:t>Explainability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4114800"/>
            <a:ext cx="1828800" cy="2286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lIns="27432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Proposed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4114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Integrated ML-based Detection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Core Components: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NLP Preprocessing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Feature Extraction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ML Models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Confidence Scoring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Advanced Features: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Emotion detection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Word highlighting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Pattern matching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846320" y="2743200"/>
            <a:ext cx="1097280" cy="731520"/>
          </a:xfrm>
          <a:prstGeom prst="roundRect">
            <a:avLst/>
          </a:prstGeom>
          <a:solidFill>
            <a:srgbClr val="6496C8"/>
          </a:solidFill>
          <a:ln>
            <a:solidFill>
              <a:srgbClr val="64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Input</a:t>
            </a:r>
          </a:p>
        </p:txBody>
      </p:sp>
      <p:sp>
        <p:nvSpPr>
          <p:cNvPr id="5" name="Right Arrow 4"/>
          <p:cNvSpPr/>
          <p:nvPr/>
        </p:nvSpPr>
        <p:spPr>
          <a:xfrm>
            <a:off x="6035040" y="2971800"/>
            <a:ext cx="365760" cy="274320"/>
          </a:xfrm>
          <a:prstGeom prst="rightArrow">
            <a:avLst/>
          </a:prstGeom>
          <a:solidFill>
            <a:srgbClr val="333333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26479" y="2743200"/>
            <a:ext cx="1097280" cy="731520"/>
          </a:xfrm>
          <a:prstGeom prst="round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Process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7315200" y="2971800"/>
            <a:ext cx="365760" cy="274320"/>
          </a:xfrm>
          <a:prstGeom prst="rightArrow">
            <a:avLst/>
          </a:prstGeom>
          <a:solidFill>
            <a:srgbClr val="333333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406640" y="2743200"/>
            <a:ext cx="1097280" cy="731520"/>
          </a:xfrm>
          <a:prstGeom prst="round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Output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lIns="27432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4114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Three-Layer Architecture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Frontend: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HTML/CSS/JavaScript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Responsive design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Dark/Light mode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Backend: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Flask REST API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Python NLP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ML model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Deployment: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Docker container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Jenkins CI/CD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AWS EC2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0" y="1371600"/>
            <a:ext cx="3657600" cy="731520"/>
          </a:xfrm>
          <a:prstGeom prst="roundRect">
            <a:avLst/>
          </a:prstGeom>
          <a:solidFill>
            <a:srgbClr val="6496C8"/>
          </a:solidFill>
          <a:ln>
            <a:solidFill>
              <a:srgbClr val="64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Frontend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2743200"/>
            <a:ext cx="3657600" cy="731520"/>
          </a:xfrm>
          <a:prstGeom prst="round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Backend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4114800"/>
            <a:ext cx="3657600" cy="731520"/>
          </a:xfrm>
          <a:prstGeom prst="round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Deployment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